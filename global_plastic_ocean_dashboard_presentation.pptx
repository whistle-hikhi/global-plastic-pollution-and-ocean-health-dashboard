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658368"/>
            <a:ext cx="74980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Plastic Pollution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Ocean Health Dashboard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13232" y="1984248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A three-act interactive narrative visualization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3317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9C7D9"/>
                </a:solidFill>
              </a:rPr>
              <a:t>Nguyen Huy Hung · Nguyen Ba Thanh Bac · VinUniversity · June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955280" y="685800"/>
            <a:ext cx="3474720" cy="2926080"/>
          </a:xfrm>
          <a:prstGeom prst="roundRect">
            <a:avLst>
              <a:gd name="adj" fmla="val 4375"/>
            </a:avLst>
          </a:prstGeom>
          <a:solidFill>
            <a:srgbClr val="071526"/>
          </a:solidFill>
          <a:ln w="12700">
            <a:solidFill>
              <a:srgbClr val="2742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5982" y="949147"/>
            <a:ext cx="2293315" cy="2282342"/>
          </a:xfrm>
          <a:prstGeom prst="ellipse">
            <a:avLst/>
          </a:prstGeom>
          <a:solidFill>
            <a:srgbClr val="0B2542">
              <a:alpha val="90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4645" y="978408"/>
            <a:ext cx="0" cy="2253082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15477" y="1592885"/>
            <a:ext cx="2154326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3308" y="978408"/>
            <a:ext cx="0" cy="2253082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15477" y="2031797"/>
            <a:ext cx="2154326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1972" y="978408"/>
            <a:ext cx="0" cy="2253082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15477" y="2470709"/>
            <a:ext cx="2154326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6685" y="1592885"/>
            <a:ext cx="243230" cy="243230"/>
          </a:xfrm>
          <a:prstGeom prst="ellipse">
            <a:avLst/>
          </a:prstGeom>
          <a:solidFill>
            <a:srgbClr val="FF6B35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3146" y="1856232"/>
            <a:ext cx="191110" cy="191110"/>
          </a:xfrm>
          <a:prstGeom prst="ellipse">
            <a:avLst/>
          </a:prstGeom>
          <a:solidFill>
            <a:srgbClr val="FFD166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66376" y="2061058"/>
            <a:ext cx="173736" cy="173736"/>
          </a:xfrm>
          <a:prstGeom prst="ellipse">
            <a:avLst/>
          </a:prstGeom>
          <a:solidFill>
            <a:srgbClr val="00FF88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09606" y="1739189"/>
            <a:ext cx="277978" cy="277978"/>
          </a:xfrm>
          <a:prstGeom prst="ellipse">
            <a:avLst/>
          </a:prstGeom>
          <a:solidFill>
            <a:srgbClr val="FF6B35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57078" y="2207362"/>
            <a:ext cx="208483" cy="208483"/>
          </a:xfrm>
          <a:prstGeom prst="ellipse">
            <a:avLst/>
          </a:prstGeom>
          <a:solidFill>
            <a:srgbClr val="FF4D6D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7696" y="2295144"/>
            <a:ext cx="156362" cy="156362"/>
          </a:xfrm>
          <a:prstGeom prst="ellipse">
            <a:avLst/>
          </a:prstGeom>
          <a:solidFill>
            <a:srgbClr val="3A86FF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4157" y="2382926"/>
            <a:ext cx="173736" cy="173736"/>
          </a:xfrm>
          <a:prstGeom prst="ellipse">
            <a:avLst/>
          </a:prstGeom>
          <a:solidFill>
            <a:srgbClr val="00D4FF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01123" y="2470709"/>
            <a:ext cx="156362" cy="156362"/>
          </a:xfrm>
          <a:prstGeom prst="ellipse">
            <a:avLst/>
          </a:prstGeom>
          <a:solidFill>
            <a:srgbClr val="FFD166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3342" y="2617013"/>
            <a:ext cx="138989" cy="138989"/>
          </a:xfrm>
          <a:prstGeom prst="ellipse">
            <a:avLst/>
          </a:prstGeom>
          <a:solidFill>
            <a:srgbClr val="00FF88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3877056"/>
            <a:ext cx="2871216" cy="0"/>
          </a:xfrm>
          <a:prstGeom prst="line">
            <a:avLst/>
          </a:prstGeom>
          <a:noFill/>
          <a:ln w="2794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70248" y="3877056"/>
            <a:ext cx="2862072" cy="0"/>
          </a:xfrm>
          <a:prstGeom prst="line">
            <a:avLst/>
          </a:prstGeom>
          <a:noFill/>
          <a:ln w="2794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62088" y="3877056"/>
            <a:ext cx="2862072" cy="0"/>
          </a:xfrm>
          <a:prstGeom prst="line">
            <a:avLst/>
          </a:prstGeom>
          <a:noFill/>
          <a:ln w="27940">
            <a:solidFill>
              <a:srgbClr val="00FF8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3232" y="3310128"/>
            <a:ext cx="2651760" cy="1143000"/>
          </a:xfrm>
          <a:prstGeom prst="roundRect">
            <a:avLst>
              <a:gd name="adj" fmla="val 11200"/>
            </a:avLst>
          </a:prstGeom>
          <a:solidFill>
            <a:srgbClr val="132845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4930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LAND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96112" y="38130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Waste mismanagement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41605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1990-2019 country rates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023360" y="3310128"/>
            <a:ext cx="2651760" cy="1143000"/>
          </a:xfrm>
          <a:prstGeom prst="roundRect">
            <a:avLst>
              <a:gd name="adj" fmla="val 11200"/>
            </a:avLst>
          </a:prstGeom>
          <a:solidFill>
            <a:srgbClr val="132845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34930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RIVERS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06240" y="38130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Emission pathways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06240" y="41605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32K river emission points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333488" y="3310128"/>
            <a:ext cx="2651760" cy="1143000"/>
          </a:xfrm>
          <a:prstGeom prst="roundRect">
            <a:avLst>
              <a:gd name="adj" fmla="val 11200"/>
            </a:avLst>
          </a:prstGeom>
          <a:solidFill>
            <a:srgbClr val="132845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16368" y="34930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F88"/>
                </a:solidFill>
              </a:rPr>
              <a:t>OCEAN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16368" y="38130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Health impact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516368" y="41605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2012-2023 OHI trends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868680" y="51937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200+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22960" y="5632704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 analyzed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2880360" y="51937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32K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2834640" y="5632704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river records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892040" y="51937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220+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4846320" y="5632704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ocean regions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903720" y="51937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858000" y="5632704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models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connect land-based waste, river transport, and ocean health?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508760"/>
            <a:ext cx="3657600" cy="3611880"/>
          </a:xfrm>
          <a:prstGeom prst="roundRect">
            <a:avLst>
              <a:gd name="adj" fmla="val 3544"/>
            </a:avLst>
          </a:prstGeom>
          <a:solidFill>
            <a:srgbClr val="132845"/>
          </a:solidFill>
          <a:ln w="1270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F"/>
                </a:solidFill>
              </a:rPr>
              <a:t>Most tools show plastic pollution as isolated statistics.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28803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rank countries or display emissions, but rarely trace the pathway.</a:t>
            </a:r>
            <a:endParaRPr lang="en-US" sz="1050" dirty="0"/>
          </a:p>
          <a:p>
            <a:r>
              <a:rPr lang="en-US" sz="10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cannot easily connect upstream sources to downstream ocean effects.</a:t>
            </a:r>
            <a:endParaRPr lang="en-US" sz="1050" dirty="0"/>
          </a:p>
          <a:p>
            <a:r>
              <a:rPr lang="en-US" sz="10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decisions need a full source-to-impact story.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6812280" cy="3611880"/>
          </a:xfrm>
          <a:prstGeom prst="roundRect">
            <a:avLst>
              <a:gd name="adj" fmla="val 3544"/>
            </a:avLst>
          </a:prstGeom>
          <a:solidFill>
            <a:srgbClr val="10213A"/>
          </a:solidFill>
          <a:ln w="12700">
            <a:solidFill>
              <a:srgbClr val="2742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783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956048" y="221284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</a:rPr>
              <a:t>Build a guided, interactive dashboard that narrates the plastic pollution journey: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38928" y="2907792"/>
            <a:ext cx="530352" cy="530352"/>
          </a:xfrm>
          <a:prstGeom prst="ellipse">
            <a:avLst/>
          </a:prstGeom>
          <a:solidFill>
            <a:srgbClr val="FF6B35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305409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37176" y="3639312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Country plastic crisis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06440" y="3172968"/>
            <a:ext cx="1005840" cy="0"/>
          </a:xfrm>
          <a:prstGeom prst="line">
            <a:avLst/>
          </a:prstGeom>
          <a:noFill/>
          <a:ln w="27940">
            <a:solidFill>
              <a:srgbClr val="2742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77456" y="2907792"/>
            <a:ext cx="530352" cy="530352"/>
          </a:xfrm>
          <a:prstGeom prst="ellipse">
            <a:avLst/>
          </a:prstGeom>
          <a:solidFill>
            <a:srgbClr val="00D4FF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305409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75704" y="3639312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River emission pathways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44968" y="3172968"/>
            <a:ext cx="1005840" cy="0"/>
          </a:xfrm>
          <a:prstGeom prst="line">
            <a:avLst/>
          </a:prstGeom>
          <a:noFill/>
          <a:ln w="27940">
            <a:solidFill>
              <a:srgbClr val="2742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5984" y="2907792"/>
            <a:ext cx="530352" cy="530352"/>
          </a:xfrm>
          <a:prstGeom prst="ellipse">
            <a:avLst/>
          </a:prstGeom>
          <a:solidFill>
            <a:srgbClr val="00FF88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5984" y="305409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14232" y="3639312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Ocean health consequences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" y="5376672"/>
            <a:ext cx="10771632" cy="594360"/>
          </a:xfrm>
          <a:prstGeom prst="roundRect">
            <a:avLst>
              <a:gd name="adj" fmla="val 21538"/>
            </a:avLst>
          </a:prstGeom>
          <a:solidFill>
            <a:srgbClr val="071526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55869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9C7D9"/>
                </a:solidFill>
              </a:rPr>
              <a:t>Audience served: environmental policy analysts · hydrologists · marine scientists · data visualization learners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 &amp; Scope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public datasets power the three-act journey.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554480"/>
            <a:ext cx="3337560" cy="3383280"/>
          </a:xfrm>
          <a:prstGeom prst="roundRect">
            <a:avLst>
              <a:gd name="adj" fmla="val 3836"/>
            </a:avLst>
          </a:prstGeom>
          <a:solidFill>
            <a:srgbClr val="132845"/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810512"/>
            <a:ext cx="658368" cy="292608"/>
          </a:xfrm>
          <a:prstGeom prst="roundRect">
            <a:avLst>
              <a:gd name="adj" fmla="val 40625"/>
            </a:avLst>
          </a:prstGeom>
          <a:solidFill>
            <a:srgbClr val="FF6B35">
              <a:alpha val="14000"/>
            </a:srgbClr>
          </a:solidFill>
          <a:ln w="10160">
            <a:solidFill>
              <a:srgbClr val="FF6B35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18790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I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905256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</a:rPr>
              <a:t>Mismanaged plastic waste per capita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05256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7D9"/>
                </a:solidFill>
              </a:rPr>
              <a:t>Our World in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" y="3310128"/>
            <a:ext cx="2788920" cy="0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584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6B35"/>
                </a:solidFill>
              </a:rPr>
              <a:t>~5,700 records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05256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4F8FF"/>
                </a:solidFill>
              </a:rPr>
              <a:t>200+ countries · 1990-2019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05256" y="4498848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Filtered out supra-national aggregates; enforced entity-code-year-value schema.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425696" y="1554480"/>
            <a:ext cx="3337560" cy="3383280"/>
          </a:xfrm>
          <a:prstGeom prst="roundRect">
            <a:avLst>
              <a:gd name="adj" fmla="val 3836"/>
            </a:avLst>
          </a:prstGeom>
          <a:solidFill>
            <a:srgbClr val="132845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1810512"/>
            <a:ext cx="658368" cy="292608"/>
          </a:xfrm>
          <a:prstGeom prst="roundRect">
            <a:avLst>
              <a:gd name="adj" fmla="val 40625"/>
            </a:avLst>
          </a:prstGeom>
          <a:solidFill>
            <a:srgbClr val="00D4FF">
              <a:alpha val="14000"/>
            </a:srgbClr>
          </a:solidFill>
          <a:ln w="1016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8790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II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654296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</a:rPr>
              <a:t>River plastic emission points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54296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7D9"/>
                </a:solidFill>
              </a:rPr>
              <a:t>Meijer et al.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54296" y="3310128"/>
            <a:ext cx="2788920" cy="0"/>
          </a:xfrm>
          <a:prstGeom prst="line">
            <a:avLst/>
          </a:prstGeom>
          <a:noFill/>
          <a:ln w="1524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3584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D4FF"/>
                </a:solidFill>
              </a:rPr>
              <a:t>~32,000 records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654296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4F8FF"/>
                </a:solidFill>
              </a:rPr>
              <a:t>1,000+ rivers · shapefile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654296" y="4498848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Cleaned geometry, dropped zero emissions, joined river points to countries and continents.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174736" y="1554480"/>
            <a:ext cx="3337560" cy="3383280"/>
          </a:xfrm>
          <a:prstGeom prst="roundRect">
            <a:avLst>
              <a:gd name="adj" fmla="val 3836"/>
            </a:avLst>
          </a:prstGeom>
          <a:solidFill>
            <a:srgbClr val="132845"/>
          </a:solidFill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94192" y="1810512"/>
            <a:ext cx="658368" cy="292608"/>
          </a:xfrm>
          <a:prstGeom prst="roundRect">
            <a:avLst>
              <a:gd name="adj" fmla="val 40625"/>
            </a:avLst>
          </a:prstGeom>
          <a:solidFill>
            <a:srgbClr val="00FF88">
              <a:alpha val="14000"/>
            </a:srgbClr>
          </a:solidFill>
          <a:ln w="10160">
            <a:solidFill>
              <a:srgbClr val="00FF88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7344" y="18790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III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403336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</a:rPr>
              <a:t>Ocean Health Index scores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03336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7D9"/>
                </a:solidFill>
              </a:rPr>
              <a:t>OHI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03336" y="3310128"/>
            <a:ext cx="2788920" cy="0"/>
          </a:xfrm>
          <a:prstGeom prst="line">
            <a:avLst/>
          </a:prstGeom>
          <a:noFill/>
          <a:ln w="15240">
            <a:solidFill>
              <a:srgbClr val="00FF88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3584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FF88"/>
                </a:solidFill>
              </a:rPr>
              <a:t>341,125 rows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403336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4F8FF"/>
                </a:solidFill>
              </a:rPr>
              <a:t>220+ regions · 2012-2023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403336" y="4498848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Standardized goals, years, region IDs; kept global average as a special aggregation case.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13232" y="5824728"/>
            <a:ext cx="10789920" cy="457200"/>
          </a:xfrm>
          <a:prstGeom prst="roundRect">
            <a:avLst>
              <a:gd name="adj" fmla="val 28000"/>
            </a:avLst>
          </a:prstGeom>
          <a:solidFill>
            <a:srgbClr val="0C1830"/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97103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00D4FF"/>
                </a:solidFill>
              </a:rPr>
              <a:t>TAKEAWAY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1792224" y="5948172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4F8FF"/>
                </a:solidFill>
              </a:rPr>
              <a:t>The project is not just a map: it combines temporal, geospatial, and ecological data into one coherent visual pipeline.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preprocessing and ML pipeline, two frontend implementations.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74520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132845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214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8FF"/>
                </a:solidFill>
              </a:rPr>
              <a:t>Public datasets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9264" y="2578608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OWID CSV · River shapefile · OHI CSV/GeoJSON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154680" y="2542032"/>
            <a:ext cx="374904" cy="0"/>
          </a:xfrm>
          <a:prstGeom prst="line">
            <a:avLst/>
          </a:prstGeom>
          <a:noFill/>
          <a:ln w="27940">
            <a:solidFill>
              <a:srgbClr val="27426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39312" y="1874520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10213A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21214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8FF"/>
                </a:solidFill>
              </a:rPr>
              <a:t>Preprocessing pipeline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85616" y="2578608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Filtering · spatial join · clustering · feature tables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971032" y="2542032"/>
            <a:ext cx="374904" cy="0"/>
          </a:xfrm>
          <a:prstGeom prst="line">
            <a:avLst/>
          </a:prstGeom>
          <a:noFill/>
          <a:ln w="27940">
            <a:solidFill>
              <a:srgbClr val="2742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55664" y="1874520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132845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1214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8FF"/>
                </a:solidFill>
              </a:rPr>
              <a:t>Backend services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01968" y="2578608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Python / FastAPI REST endpoints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787384" y="2542032"/>
            <a:ext cx="374904" cy="0"/>
          </a:xfrm>
          <a:prstGeom prst="line">
            <a:avLst/>
          </a:prstGeom>
          <a:noFill/>
          <a:ln w="27940">
            <a:solidFill>
              <a:srgbClr val="2742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72016" y="1874520"/>
            <a:ext cx="2240280" cy="1325880"/>
          </a:xfrm>
          <a:prstGeom prst="roundRect">
            <a:avLst>
              <a:gd name="adj" fmla="val 9655"/>
            </a:avLst>
          </a:prstGeom>
          <a:solidFill>
            <a:srgbClr val="10213A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36608" y="21214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8FF"/>
                </a:solidFill>
              </a:rPr>
              <a:t>Interactive clients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18320" y="2578608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9C7D9"/>
                </a:solidFill>
              </a:rPr>
              <a:t>React + D3 production dashboard · Python Shiny research app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097280" y="4069080"/>
            <a:ext cx="10012680" cy="1078992"/>
          </a:xfrm>
          <a:prstGeom prst="roundRect">
            <a:avLst>
              <a:gd name="adj" fmla="val 11864"/>
            </a:avLst>
          </a:prstGeom>
          <a:solidFill>
            <a:srgbClr val="071526"/>
          </a:solidFill>
          <a:ln w="12700">
            <a:solidFill>
              <a:srgbClr val="2742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43159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Design choice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17320" y="4590288"/>
            <a:ext cx="9006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4F8FF"/>
                </a:solidFill>
              </a:rPr>
              <a:t>Keep the same data pipeline and ML logic across React/D3 and Shiny, so the research prototype and deployable dashboard stay consistent.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1444752" y="5486400"/>
            <a:ext cx="164592" cy="164592"/>
          </a:xfrm>
          <a:prstGeom prst="ellipse">
            <a:avLst/>
          </a:prstGeom>
          <a:solidFill>
            <a:srgbClr val="00D4FF"/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2144" y="57332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E7F99"/>
                </a:solidFill>
              </a:rPr>
              <a:t>Load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1627632" y="5568696"/>
            <a:ext cx="932688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79776" y="5486400"/>
            <a:ext cx="164592" cy="164592"/>
          </a:xfrm>
          <a:prstGeom prst="ellipse">
            <a:avLst/>
          </a:prstGeom>
          <a:solidFill>
            <a:srgbClr val="00D4FF"/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87168" y="57332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E7F99"/>
                </a:solidFill>
              </a:rPr>
              <a:t>Clean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2962656" y="5568696"/>
            <a:ext cx="932688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5486400"/>
            <a:ext cx="164592" cy="164592"/>
          </a:xfrm>
          <a:prstGeom prst="ellipse">
            <a:avLst/>
          </a:prstGeom>
          <a:solidFill>
            <a:srgbClr val="00D4FF"/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57332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E7F99"/>
                </a:solidFill>
              </a:rPr>
              <a:t>Join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4297680" y="5568696"/>
            <a:ext cx="932688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9824" y="5486400"/>
            <a:ext cx="164592" cy="164592"/>
          </a:xfrm>
          <a:prstGeom prst="ellipse">
            <a:avLst/>
          </a:prstGeom>
          <a:solidFill>
            <a:srgbClr val="00D4FF"/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7216" y="57332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E7F99"/>
                </a:solidFill>
              </a:rPr>
              <a:t>Cluster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5632704" y="5568696"/>
            <a:ext cx="932688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84848" y="5486400"/>
            <a:ext cx="164592" cy="164592"/>
          </a:xfrm>
          <a:prstGeom prst="ellipse">
            <a:avLst/>
          </a:prstGeom>
          <a:solidFill>
            <a:srgbClr val="00FF88"/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7332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E7F99"/>
                </a:solidFill>
              </a:rPr>
              <a:t>Forecast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6967728" y="5568696"/>
            <a:ext cx="932688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9872" y="5486400"/>
            <a:ext cx="164592" cy="164592"/>
          </a:xfrm>
          <a:prstGeom prst="ellipse">
            <a:avLst/>
          </a:prstGeom>
          <a:solidFill>
            <a:srgbClr val="00FF88"/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27264" y="57332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E7F99"/>
                </a:solidFill>
              </a:rPr>
              <a:t>Serve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8302752" y="5568696"/>
            <a:ext cx="932688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4896" y="5486400"/>
            <a:ext cx="164592" cy="164592"/>
          </a:xfrm>
          <a:prstGeom prst="ellipse">
            <a:avLst/>
          </a:prstGeom>
          <a:solidFill>
            <a:srgbClr val="00FF88"/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62288" y="57332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E7F99"/>
                </a:solidFill>
              </a:rPr>
              <a:t>Visualize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Narrative Interaction Design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Author-driven story, reader-driven exploration.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828800"/>
            <a:ext cx="2999232" cy="2331720"/>
          </a:xfrm>
          <a:prstGeom prst="roundRect">
            <a:avLst>
              <a:gd name="adj" fmla="val 5490"/>
            </a:avLst>
          </a:prstGeom>
          <a:solidFill>
            <a:srgbClr val="132845"/>
          </a:solidFill>
          <a:ln w="1270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848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Act 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4F8FF"/>
                </a:solidFill>
              </a:rPr>
              <a:t>Country-level plastic crisis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51560" y="3090672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9C7D9"/>
                </a:solidFill>
              </a:rPr>
              <a:t>Year slider · top-N bar · country filter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051560" y="3611880"/>
            <a:ext cx="640080" cy="182880"/>
          </a:xfrm>
          <a:prstGeom prst="roundRect">
            <a:avLst>
              <a:gd name="adj" fmla="val 35000"/>
            </a:avLst>
          </a:prstGeom>
          <a:solidFill>
            <a:srgbClr val="FF6B35">
              <a:alpha val="65000"/>
            </a:srgbClr>
          </a:solidFill>
          <a:ln w="635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3611880"/>
            <a:ext cx="1783080" cy="182880"/>
          </a:xfrm>
          <a:prstGeom prst="roundRect">
            <a:avLst>
              <a:gd name="adj" fmla="val 35000"/>
            </a:avLst>
          </a:prstGeom>
          <a:solidFill>
            <a:srgbClr val="080D1A"/>
          </a:solidFill>
          <a:ln w="6350">
            <a:solidFill>
              <a:srgbClr val="2742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8568" y="3584448"/>
            <a:ext cx="237744" cy="23774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68496" y="2971800"/>
            <a:ext cx="402336" cy="0"/>
          </a:xfrm>
          <a:prstGeom prst="line">
            <a:avLst/>
          </a:prstGeom>
          <a:noFill/>
          <a:ln w="27940">
            <a:solidFill>
              <a:srgbClr val="2742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44568" y="1828800"/>
            <a:ext cx="2999232" cy="2331720"/>
          </a:xfrm>
          <a:prstGeom prst="roundRect">
            <a:avLst>
              <a:gd name="adj" fmla="val 5490"/>
            </a:avLst>
          </a:prstGeom>
          <a:solidFill>
            <a:srgbClr val="132845"/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848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Act II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487168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4F8FF"/>
                </a:solidFill>
              </a:rPr>
              <a:t>River emission pathways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754880" y="3090672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9C7D9"/>
                </a:solidFill>
              </a:rPr>
              <a:t>Top rivers · min emissions · cluster legend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640080" cy="182880"/>
          </a:xfrm>
          <a:prstGeom prst="roundRect">
            <a:avLst>
              <a:gd name="adj" fmla="val 35000"/>
            </a:avLst>
          </a:prstGeom>
          <a:solidFill>
            <a:srgbClr val="00D4FF">
              <a:alpha val="65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611880"/>
            <a:ext cx="1783080" cy="182880"/>
          </a:xfrm>
          <a:prstGeom prst="roundRect">
            <a:avLst>
              <a:gd name="adj" fmla="val 35000"/>
            </a:avLst>
          </a:prstGeom>
          <a:solidFill>
            <a:srgbClr val="080D1A"/>
          </a:solidFill>
          <a:ln w="6350">
            <a:solidFill>
              <a:srgbClr val="2742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61888" y="3584448"/>
            <a:ext cx="237744" cy="23774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1816" y="2971800"/>
            <a:ext cx="402336" cy="0"/>
          </a:xfrm>
          <a:prstGeom prst="line">
            <a:avLst/>
          </a:prstGeom>
          <a:noFill/>
          <a:ln w="27940">
            <a:solidFill>
              <a:srgbClr val="27426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47888" y="1828800"/>
            <a:ext cx="2999232" cy="2331720"/>
          </a:xfrm>
          <a:prstGeom prst="roundRect">
            <a:avLst>
              <a:gd name="adj" fmla="val 5490"/>
            </a:avLst>
          </a:prstGeom>
          <a:solidFill>
            <a:srgbClr val="132845"/>
          </a:solidFill>
          <a:ln w="12700">
            <a:solidFill>
              <a:srgbClr val="00FF88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0848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F88"/>
                </a:solidFill>
              </a:rPr>
              <a:t>Act III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2487168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4F8FF"/>
                </a:solidFill>
              </a:rPr>
              <a:t>Ocean health explorer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458200" y="3090672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9C7D9"/>
                </a:solidFill>
              </a:rPr>
              <a:t>Region · goal · forecast model · horizon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458200" y="3611880"/>
            <a:ext cx="640080" cy="182880"/>
          </a:xfrm>
          <a:prstGeom prst="roundRect">
            <a:avLst>
              <a:gd name="adj" fmla="val 35000"/>
            </a:avLst>
          </a:prstGeom>
          <a:solidFill>
            <a:srgbClr val="00FF88">
              <a:alpha val="65000"/>
            </a:srgbClr>
          </a:solidFill>
          <a:ln w="635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9720" y="3611880"/>
            <a:ext cx="1783080" cy="182880"/>
          </a:xfrm>
          <a:prstGeom prst="roundRect">
            <a:avLst>
              <a:gd name="adj" fmla="val 35000"/>
            </a:avLst>
          </a:prstGeom>
          <a:solidFill>
            <a:srgbClr val="080D1A"/>
          </a:solidFill>
          <a:ln w="6350">
            <a:solidFill>
              <a:srgbClr val="2742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65208" y="3584448"/>
            <a:ext cx="237744" cy="237744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4956048"/>
            <a:ext cx="9966960" cy="731520"/>
          </a:xfrm>
          <a:prstGeom prst="roundRect">
            <a:avLst>
              <a:gd name="adj" fmla="val 17500"/>
            </a:avLst>
          </a:prstGeom>
          <a:solidFill>
            <a:srgbClr val="071526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320" y="523036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Macro-layout guides novices through a fixed sequence; micro-interactions let experts explore within each stage.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 I - Country-Level Plastic Crisis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mismanaged plastic waste highest?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40233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D1A"/>
                </a:solidFill>
              </a:rPr>
              <a:t>I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360920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4F8FF"/>
                </a:solidFill>
              </a:rPr>
              <a:t>Land-based waste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7973568" y="576072"/>
            <a:ext cx="813816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87968" y="402336"/>
            <a:ext cx="347472" cy="347472"/>
          </a:xfrm>
          <a:prstGeom prst="ellipse">
            <a:avLst/>
          </a:prstGeom>
          <a:solidFill>
            <a:srgbClr val="132845">
              <a:alpha val="80000"/>
            </a:srgbClr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F8FF"/>
                </a:solidFill>
              </a:rPr>
              <a:t>II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659368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E7F99"/>
                </a:solidFill>
              </a:rPr>
              <a:t>River pathways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9272016" y="576072"/>
            <a:ext cx="813816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86416" y="402336"/>
            <a:ext cx="347472" cy="347472"/>
          </a:xfrm>
          <a:prstGeom prst="ellipse">
            <a:avLst/>
          </a:prstGeom>
          <a:solidFill>
            <a:srgbClr val="132845">
              <a:alpha val="80000"/>
            </a:srgbClr>
          </a:solidFill>
          <a:ln w="12700">
            <a:solidFill>
              <a:srgbClr val="00FF8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86416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F8FF"/>
                </a:solidFill>
              </a:rPr>
              <a:t>III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957816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E7F99"/>
                </a:solidFill>
              </a:rPr>
              <a:t>Ocean health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713232" y="1508760"/>
            <a:ext cx="4983480" cy="3429000"/>
          </a:xfrm>
          <a:prstGeom prst="roundRect">
            <a:avLst>
              <a:gd name="adj" fmla="val 3733"/>
            </a:avLst>
          </a:prstGeom>
          <a:solidFill>
            <a:srgbClr val="071526"/>
          </a:solidFill>
          <a:ln w="12700">
            <a:solidFill>
              <a:srgbClr val="2742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60424" y="1817370"/>
            <a:ext cx="3289097" cy="2674620"/>
          </a:xfrm>
          <a:prstGeom prst="ellipse">
            <a:avLst/>
          </a:prstGeom>
          <a:solidFill>
            <a:srgbClr val="0B2542">
              <a:alpha val="90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18243" y="1851660"/>
            <a:ext cx="0" cy="2640330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0093" y="2571750"/>
            <a:ext cx="3089758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062" y="1851660"/>
            <a:ext cx="0" cy="2640330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0093" y="3086100"/>
            <a:ext cx="3089758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33882" y="1851660"/>
            <a:ext cx="0" cy="2640330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0093" y="3600450"/>
            <a:ext cx="3089758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07615" y="2571750"/>
            <a:ext cx="348844" cy="348844"/>
          </a:xfrm>
          <a:prstGeom prst="ellipse">
            <a:avLst/>
          </a:prstGeom>
          <a:solidFill>
            <a:srgbClr val="FF6B35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5302" y="2880360"/>
            <a:ext cx="274091" cy="274091"/>
          </a:xfrm>
          <a:prstGeom prst="ellipse">
            <a:avLst/>
          </a:prstGeom>
          <a:solidFill>
            <a:srgbClr val="FFD166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4146" y="3120390"/>
            <a:ext cx="249174" cy="249174"/>
          </a:xfrm>
          <a:prstGeom prst="ellipse">
            <a:avLst/>
          </a:prstGeom>
          <a:solidFill>
            <a:srgbClr val="00FF88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02990" y="2743200"/>
            <a:ext cx="398678" cy="398678"/>
          </a:xfrm>
          <a:prstGeom prst="ellipse">
            <a:avLst/>
          </a:prstGeom>
          <a:solidFill>
            <a:srgbClr val="FF6B35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01338" y="3291840"/>
            <a:ext cx="299009" cy="299009"/>
          </a:xfrm>
          <a:prstGeom prst="ellipse">
            <a:avLst/>
          </a:prstGeom>
          <a:solidFill>
            <a:srgbClr val="FF4D6D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08276" y="3394710"/>
            <a:ext cx="224257" cy="224257"/>
          </a:xfrm>
          <a:prstGeom prst="ellipse">
            <a:avLst/>
          </a:prstGeom>
          <a:solidFill>
            <a:srgbClr val="3A86FF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5963" y="3497580"/>
            <a:ext cx="249174" cy="249174"/>
          </a:xfrm>
          <a:prstGeom prst="ellipse">
            <a:avLst/>
          </a:prstGeom>
          <a:solidFill>
            <a:srgbClr val="00D4FF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03981" y="3600450"/>
            <a:ext cx="224257" cy="224257"/>
          </a:xfrm>
          <a:prstGeom prst="ellipse">
            <a:avLst/>
          </a:prstGeom>
          <a:solidFill>
            <a:srgbClr val="FFD166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52164" y="3771900"/>
            <a:ext cx="199339" cy="199339"/>
          </a:xfrm>
          <a:prstGeom prst="ellipse">
            <a:avLst/>
          </a:prstGeom>
          <a:solidFill>
            <a:srgbClr val="00FF88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9320" y="1508760"/>
            <a:ext cx="5349240" cy="3429000"/>
          </a:xfrm>
          <a:prstGeom prst="roundRect">
            <a:avLst>
              <a:gd name="adj" fmla="val 3733"/>
            </a:avLst>
          </a:prstGeom>
          <a:solidFill>
            <a:srgbClr val="132845"/>
          </a:solidFill>
          <a:ln w="1270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ENCODINGS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6291072" y="2212848"/>
            <a:ext cx="45720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choropleth encodes kg/person/year with a blue-to-red scale.</a:t>
            </a:r>
            <a:endParaRPr lang="en-US" sz="1100" dirty="0"/>
          </a:p>
          <a:p>
            <a:r>
              <a:rPr lang="en-US" sz="11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top-N bar chart provides precise rank comparison.</a:t>
            </a:r>
            <a:endParaRPr lang="en-US" sz="1100" dirty="0"/>
          </a:p>
          <a:p>
            <a:r>
              <a:rPr lang="en-US" sz="11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slider covers 1990-2019; country multi-select enables custom comparisons.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91072" y="3931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6291072" y="425196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South and South-East Asian countries consistently appear among the highest mismanagement rates; high-income regions remain near 0-1 kg/capita/year.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1264158" y="5047488"/>
            <a:ext cx="298323" cy="777240"/>
          </a:xfrm>
          <a:prstGeom prst="roundRect">
            <a:avLst>
              <a:gd name="adj" fmla="val 12261"/>
            </a:avLst>
          </a:prstGeom>
          <a:solidFill>
            <a:srgbClr val="FF6B35">
              <a:alpha val="96000"/>
            </a:srgbClr>
          </a:solidFill>
          <a:ln w="635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78508" y="5199557"/>
            <a:ext cx="298323" cy="625171"/>
          </a:xfrm>
          <a:prstGeom prst="roundRect">
            <a:avLst>
              <a:gd name="adj" fmla="val 12261"/>
            </a:avLst>
          </a:prstGeom>
          <a:solidFill>
            <a:srgbClr val="FFD166">
              <a:alpha val="96000"/>
            </a:srgbClr>
          </a:solidFill>
          <a:ln w="635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92858" y="5267143"/>
            <a:ext cx="298323" cy="557585"/>
          </a:xfrm>
          <a:prstGeom prst="roundRect">
            <a:avLst>
              <a:gd name="adj" fmla="val 12261"/>
            </a:avLst>
          </a:prstGeom>
          <a:solidFill>
            <a:srgbClr val="00FF88">
              <a:alpha val="96000"/>
            </a:srgbClr>
          </a:solidFill>
          <a:ln w="635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07208" y="5334729"/>
            <a:ext cx="298323" cy="489999"/>
          </a:xfrm>
          <a:prstGeom prst="roundRect">
            <a:avLst>
              <a:gd name="adj" fmla="val 12261"/>
            </a:avLst>
          </a:prstGeom>
          <a:solidFill>
            <a:srgbClr val="00D4FF">
              <a:alpha val="96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21558" y="5478349"/>
            <a:ext cx="298323" cy="346379"/>
          </a:xfrm>
          <a:prstGeom prst="roundRect">
            <a:avLst>
              <a:gd name="adj" fmla="val 12261"/>
            </a:avLst>
          </a:prstGeom>
          <a:solidFill>
            <a:srgbClr val="FF6B35">
              <a:alpha val="96000"/>
            </a:srgbClr>
          </a:solidFill>
          <a:ln w="635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35908" y="5571280"/>
            <a:ext cx="298323" cy="253448"/>
          </a:xfrm>
          <a:prstGeom prst="roundRect">
            <a:avLst>
              <a:gd name="adj" fmla="val 14431"/>
            </a:avLst>
          </a:prstGeom>
          <a:solidFill>
            <a:srgbClr val="FFD166">
              <a:alpha val="96000"/>
            </a:srgbClr>
          </a:solidFill>
          <a:ln w="635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50258" y="5672659"/>
            <a:ext cx="298323" cy="152069"/>
          </a:xfrm>
          <a:prstGeom prst="roundRect">
            <a:avLst>
              <a:gd name="adj" fmla="val 24052"/>
            </a:avLst>
          </a:prstGeom>
          <a:solidFill>
            <a:srgbClr val="00FF88">
              <a:alpha val="96000"/>
            </a:srgbClr>
          </a:solidFill>
          <a:ln w="635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4608" y="5740245"/>
            <a:ext cx="298323" cy="84483"/>
          </a:xfrm>
          <a:prstGeom prst="roundRect">
            <a:avLst>
              <a:gd name="adj" fmla="val 43294"/>
            </a:avLst>
          </a:prstGeom>
          <a:solidFill>
            <a:srgbClr val="00D4FF">
              <a:alpha val="96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1288" y="5824728"/>
            <a:ext cx="4114800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3000" y="5879592"/>
            <a:ext cx="4160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F99"/>
                </a:solidFill>
              </a:rPr>
              <a:t>Illustrative ranked country bars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 II - River Emission Pathways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river systems carry the plastic load?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402336"/>
            <a:ext cx="347472" cy="347472"/>
          </a:xfrm>
          <a:prstGeom prst="ellipse">
            <a:avLst/>
          </a:prstGeom>
          <a:solidFill>
            <a:srgbClr val="132845">
              <a:alpha val="80000"/>
            </a:srgbClr>
          </a:solidFill>
          <a:ln w="12700">
            <a:solidFill>
              <a:srgbClr val="FF6B3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F8FF"/>
                </a:solidFill>
              </a:rPr>
              <a:t>I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360920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E7F99"/>
                </a:solidFill>
              </a:rPr>
              <a:t>Land-based waste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7973568" y="576072"/>
            <a:ext cx="813816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87968" y="402336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D1A"/>
                </a:solidFill>
              </a:rPr>
              <a:t>II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659368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4F8FF"/>
                </a:solidFill>
              </a:rPr>
              <a:t>River pathways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9272016" y="576072"/>
            <a:ext cx="813816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86416" y="402336"/>
            <a:ext cx="347472" cy="347472"/>
          </a:xfrm>
          <a:prstGeom prst="ellipse">
            <a:avLst/>
          </a:prstGeom>
          <a:solidFill>
            <a:srgbClr val="132845">
              <a:alpha val="80000"/>
            </a:srgbClr>
          </a:solidFill>
          <a:ln w="12700">
            <a:solidFill>
              <a:srgbClr val="00FF8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86416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F8FF"/>
                </a:solidFill>
              </a:rPr>
              <a:t>III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957816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E7F99"/>
                </a:solidFill>
              </a:rPr>
              <a:t>Ocean health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713232" y="1463040"/>
            <a:ext cx="5669280" cy="4206240"/>
          </a:xfrm>
          <a:prstGeom prst="roundRect">
            <a:avLst>
              <a:gd name="adj" fmla="val 3043"/>
            </a:avLst>
          </a:prstGeom>
          <a:solidFill>
            <a:srgbClr val="071526"/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1828800"/>
            <a:ext cx="54864" cy="54864"/>
          </a:xfrm>
          <a:prstGeom prst="ellipse">
            <a:avLst/>
          </a:prstGeom>
          <a:solidFill>
            <a:srgbClr val="00D4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0824" y="1988820"/>
            <a:ext cx="123444" cy="123444"/>
          </a:xfrm>
          <a:prstGeom prst="ellipse">
            <a:avLst/>
          </a:prstGeom>
          <a:solidFill>
            <a:srgbClr val="00FF88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98648" y="1920240"/>
            <a:ext cx="109728" cy="109728"/>
          </a:xfrm>
          <a:prstGeom prst="ellipse">
            <a:avLst/>
          </a:prstGeom>
          <a:solidFill>
            <a:srgbClr val="FF6B35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57016" y="1851660"/>
            <a:ext cx="96012" cy="96012"/>
          </a:xfrm>
          <a:prstGeom prst="ellipse">
            <a:avLst/>
          </a:prstGeom>
          <a:solidFill>
            <a:srgbClr val="FFD166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2011680"/>
            <a:ext cx="82296" cy="82296"/>
          </a:xfrm>
          <a:prstGeom prst="ellipse">
            <a:avLst/>
          </a:prstGeom>
          <a:solidFill>
            <a:srgbClr val="A66C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2664" y="1943100"/>
            <a:ext cx="68580" cy="68580"/>
          </a:xfrm>
          <a:prstGeom prst="ellipse">
            <a:avLst/>
          </a:prstGeom>
          <a:solidFill>
            <a:srgbClr val="3A86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2560320"/>
            <a:ext cx="54864" cy="54864"/>
          </a:xfrm>
          <a:prstGeom prst="ellipse">
            <a:avLst/>
          </a:prstGeom>
          <a:solidFill>
            <a:srgbClr val="00D4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20824" y="2720340"/>
            <a:ext cx="123444" cy="123444"/>
          </a:xfrm>
          <a:prstGeom prst="ellipse">
            <a:avLst/>
          </a:prstGeom>
          <a:solidFill>
            <a:srgbClr val="00FF88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98648" y="2651760"/>
            <a:ext cx="109728" cy="109728"/>
          </a:xfrm>
          <a:prstGeom prst="ellipse">
            <a:avLst/>
          </a:prstGeom>
          <a:solidFill>
            <a:srgbClr val="FF6B35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57016" y="2583180"/>
            <a:ext cx="96012" cy="96012"/>
          </a:xfrm>
          <a:prstGeom prst="ellipse">
            <a:avLst/>
          </a:prstGeom>
          <a:solidFill>
            <a:srgbClr val="FFD166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2514600"/>
            <a:ext cx="82296" cy="82296"/>
          </a:xfrm>
          <a:prstGeom prst="ellipse">
            <a:avLst/>
          </a:prstGeom>
          <a:solidFill>
            <a:srgbClr val="A66C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12664" y="2674620"/>
            <a:ext cx="68580" cy="68580"/>
          </a:xfrm>
          <a:prstGeom prst="ellipse">
            <a:avLst/>
          </a:prstGeom>
          <a:solidFill>
            <a:srgbClr val="3A86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3291840"/>
            <a:ext cx="54864" cy="54864"/>
          </a:xfrm>
          <a:prstGeom prst="ellipse">
            <a:avLst/>
          </a:prstGeom>
          <a:solidFill>
            <a:srgbClr val="00D4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20824" y="3223260"/>
            <a:ext cx="123444" cy="123444"/>
          </a:xfrm>
          <a:prstGeom prst="ellipse">
            <a:avLst/>
          </a:prstGeom>
          <a:solidFill>
            <a:srgbClr val="00FF88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98648" y="3383280"/>
            <a:ext cx="109728" cy="109728"/>
          </a:xfrm>
          <a:prstGeom prst="ellipse">
            <a:avLst/>
          </a:prstGeom>
          <a:solidFill>
            <a:srgbClr val="FF6B35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57016" y="3314700"/>
            <a:ext cx="96012" cy="96012"/>
          </a:xfrm>
          <a:prstGeom prst="ellipse">
            <a:avLst/>
          </a:prstGeom>
          <a:solidFill>
            <a:srgbClr val="FFD166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3246120"/>
            <a:ext cx="82296" cy="82296"/>
          </a:xfrm>
          <a:prstGeom prst="ellipse">
            <a:avLst/>
          </a:prstGeom>
          <a:solidFill>
            <a:srgbClr val="A66C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12664" y="3406140"/>
            <a:ext cx="68580" cy="68580"/>
          </a:xfrm>
          <a:prstGeom prst="ellipse">
            <a:avLst/>
          </a:prstGeom>
          <a:solidFill>
            <a:srgbClr val="3A86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023360"/>
            <a:ext cx="54864" cy="54864"/>
          </a:xfrm>
          <a:prstGeom prst="ellipse">
            <a:avLst/>
          </a:prstGeom>
          <a:solidFill>
            <a:srgbClr val="00D4FF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0824" y="3954780"/>
            <a:ext cx="123444" cy="123444"/>
          </a:xfrm>
          <a:prstGeom prst="ellipse">
            <a:avLst/>
          </a:prstGeom>
          <a:solidFill>
            <a:srgbClr val="00FF88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98648" y="3886200"/>
            <a:ext cx="109728" cy="109728"/>
          </a:xfrm>
          <a:prstGeom prst="ellipse">
            <a:avLst/>
          </a:prstGeom>
          <a:solidFill>
            <a:srgbClr val="FF6B35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57016" y="4046220"/>
            <a:ext cx="96012" cy="96012"/>
          </a:xfrm>
          <a:prstGeom prst="ellipse">
            <a:avLst/>
          </a:prstGeom>
          <a:solidFill>
            <a:srgbClr val="FFD166">
              <a:alpha val="94000"/>
            </a:srgbClr>
          </a:solidFill>
          <a:ln w="254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2148840"/>
            <a:ext cx="1097280" cy="731520"/>
          </a:xfrm>
          <a:prstGeom prst="ellipse">
            <a:avLst/>
          </a:prstGeom>
          <a:solidFill>
            <a:srgbClr val="FF6B35">
              <a:alpha val="12000"/>
            </a:srgbClr>
          </a:solidFill>
          <a:ln w="1778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2971800"/>
            <a:ext cx="1280160" cy="822960"/>
          </a:xfrm>
          <a:prstGeom prst="ellipse">
            <a:avLst/>
          </a:prstGeom>
          <a:solidFill>
            <a:srgbClr val="00D4FF">
              <a:alpha val="10000"/>
            </a:srgbClr>
          </a:solidFill>
          <a:ln w="1778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4114800"/>
            <a:ext cx="914400" cy="640080"/>
          </a:xfrm>
          <a:prstGeom prst="ellipse">
            <a:avLst/>
          </a:prstGeom>
          <a:solidFill>
            <a:srgbClr val="00FF88">
              <a:alpha val="10000"/>
            </a:srgbClr>
          </a:solidFill>
          <a:ln w="17780">
            <a:solidFill>
              <a:srgbClr val="00FF88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523036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B9C7D9"/>
                </a:solidFill>
              </a:rPr>
              <a:t>Emission-weighted K-Means hotspots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6656832" y="1463040"/>
            <a:ext cx="4617720" cy="4206240"/>
          </a:xfrm>
          <a:prstGeom prst="roundRect">
            <a:avLst>
              <a:gd name="adj" fmla="val 3043"/>
            </a:avLst>
          </a:prstGeom>
          <a:solidFill>
            <a:srgbClr val="132845"/>
          </a:solidFill>
          <a:ln w="12700">
            <a:solidFill>
              <a:srgbClr val="2742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67728" y="1737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770" dirty="0"/>
          </a:p>
        </p:txBody>
      </p:sp>
      <p:sp>
        <p:nvSpPr>
          <p:cNvPr id="50" name="Text 48"/>
          <p:cNvSpPr/>
          <p:nvPr/>
        </p:nvSpPr>
        <p:spPr>
          <a:xfrm>
            <a:off x="6967728" y="2148840"/>
            <a:ext cx="38862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7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river is plotted as a circle; radius uses log(1 + emissions).</a:t>
            </a:r>
            <a:endParaRPr lang="en-US" sz="1070" dirty="0"/>
          </a:p>
          <a:p>
            <a:r>
              <a:rPr lang="en-US" sz="107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K-Means clusters reveal geographic hotspot structure.</a:t>
            </a:r>
            <a:endParaRPr lang="en-US" sz="1070" dirty="0"/>
          </a:p>
          <a:p>
            <a:r>
              <a:rPr lang="en-US" sz="107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summaries show dominant country, share of global emissions, and top contributors.</a:t>
            </a:r>
            <a:endParaRPr lang="en-US" sz="1070" dirty="0"/>
          </a:p>
        </p:txBody>
      </p:sp>
      <p:sp>
        <p:nvSpPr>
          <p:cNvPr id="51" name="Text 49"/>
          <p:cNvSpPr/>
          <p:nvPr/>
        </p:nvSpPr>
        <p:spPr>
          <a:xfrm>
            <a:off x="6967728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6967728" y="427024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4F8FF"/>
                </a:solidFill>
              </a:rPr>
              <a:t>River loading is extremely concentrated: the top 1% of rivers contribute over 60% of global riverine plastic emissions, with most clusters centered on Asian river systems.</a:t>
            </a:r>
            <a:endParaRPr lang="en-US" sz="1070" dirty="0"/>
          </a:p>
        </p:txBody>
      </p:sp>
      <p:sp>
        <p:nvSpPr>
          <p:cNvPr id="53" name="Text 51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 III - Ocean Health Explorer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ocean regions and sub-goals change over time?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402336"/>
            <a:ext cx="347472" cy="347472"/>
          </a:xfrm>
          <a:prstGeom prst="ellipse">
            <a:avLst/>
          </a:prstGeom>
          <a:solidFill>
            <a:srgbClr val="132845">
              <a:alpha val="80000"/>
            </a:srgbClr>
          </a:solidFill>
          <a:ln w="12700">
            <a:solidFill>
              <a:srgbClr val="FF6B3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F8FF"/>
                </a:solidFill>
              </a:rPr>
              <a:t>I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360920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E7F99"/>
                </a:solidFill>
              </a:rPr>
              <a:t>Land-based waste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7973568" y="576072"/>
            <a:ext cx="813816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87968" y="402336"/>
            <a:ext cx="347472" cy="347472"/>
          </a:xfrm>
          <a:prstGeom prst="ellipse">
            <a:avLst/>
          </a:prstGeom>
          <a:solidFill>
            <a:srgbClr val="132845">
              <a:alpha val="80000"/>
            </a:srgbClr>
          </a:solidFill>
          <a:ln w="12700">
            <a:solidFill>
              <a:srgbClr val="00D4FF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4F8FF"/>
                </a:solidFill>
              </a:rPr>
              <a:t>II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659368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E7F99"/>
                </a:solidFill>
              </a:rPr>
              <a:t>River pathways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9272016" y="576072"/>
            <a:ext cx="813816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86416" y="402336"/>
            <a:ext cx="347472" cy="34747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86416" y="48463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D1A"/>
                </a:solidFill>
              </a:rPr>
              <a:t>III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957816" y="795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4F8FF"/>
                </a:solidFill>
              </a:rPr>
              <a:t>Ocean health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713232" y="1481328"/>
            <a:ext cx="3337560" cy="3383280"/>
          </a:xfrm>
          <a:prstGeom prst="roundRect">
            <a:avLst>
              <a:gd name="adj" fmla="val 3836"/>
            </a:avLst>
          </a:prstGeom>
          <a:solidFill>
            <a:srgbClr val="071526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1737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88"/>
                </a:solidFill>
              </a:rPr>
              <a:t>OHI choropleth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1560" y="2084832"/>
            <a:ext cx="2633472" cy="2011680"/>
          </a:xfrm>
          <a:prstGeom prst="roundRect">
            <a:avLst>
              <a:gd name="adj" fmla="val 6364"/>
            </a:avLst>
          </a:prstGeom>
          <a:solidFill>
            <a:srgbClr val="071526"/>
          </a:solidFill>
          <a:ln w="12700">
            <a:solidFill>
              <a:srgbClr val="2742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99250" y="2265883"/>
            <a:ext cx="1738092" cy="1569110"/>
          </a:xfrm>
          <a:prstGeom prst="ellipse">
            <a:avLst/>
          </a:prstGeom>
          <a:solidFill>
            <a:srgbClr val="0B2542">
              <a:alpha val="90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46869" y="2286000"/>
            <a:ext cx="0" cy="1548994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1920" y="2708453"/>
            <a:ext cx="1632753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487" y="2286000"/>
            <a:ext cx="0" cy="1548994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1920" y="3010205"/>
            <a:ext cx="1632753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42105" y="2286000"/>
            <a:ext cx="0" cy="1548994"/>
          </a:xfrm>
          <a:prstGeom prst="line">
            <a:avLst/>
          </a:prstGeom>
          <a:noFill/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51920" y="3311957"/>
            <a:ext cx="1632753" cy="0"/>
          </a:xfrm>
          <a:prstGeom prst="line">
            <a:avLst/>
          </a:prstGeom>
          <a:noFill/>
          <a:ln w="63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6940" y="2708453"/>
            <a:ext cx="184343" cy="184343"/>
          </a:xfrm>
          <a:prstGeom prst="ellipse">
            <a:avLst/>
          </a:prstGeom>
          <a:solidFill>
            <a:srgbClr val="FF6B35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15627" y="2889504"/>
            <a:ext cx="144841" cy="144841"/>
          </a:xfrm>
          <a:prstGeom prst="ellipse">
            <a:avLst/>
          </a:prstGeom>
          <a:solidFill>
            <a:srgbClr val="FFD166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99970" y="3030322"/>
            <a:ext cx="131674" cy="131674"/>
          </a:xfrm>
          <a:prstGeom prst="ellipse">
            <a:avLst/>
          </a:prstGeom>
          <a:solidFill>
            <a:srgbClr val="00FF88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4313" y="2809037"/>
            <a:ext cx="210678" cy="210678"/>
          </a:xfrm>
          <a:prstGeom prst="ellipse">
            <a:avLst/>
          </a:prstGeom>
          <a:solidFill>
            <a:srgbClr val="FF6B35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47660" y="3130906"/>
            <a:ext cx="158008" cy="158008"/>
          </a:xfrm>
          <a:prstGeom prst="ellipse">
            <a:avLst/>
          </a:prstGeom>
          <a:solidFill>
            <a:srgbClr val="FF4D6D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41602" y="3191256"/>
            <a:ext cx="118506" cy="118506"/>
          </a:xfrm>
          <a:prstGeom prst="ellipse">
            <a:avLst/>
          </a:prstGeom>
          <a:solidFill>
            <a:srgbClr val="3A86FF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10288" y="3251606"/>
            <a:ext cx="131674" cy="131674"/>
          </a:xfrm>
          <a:prstGeom prst="ellipse">
            <a:avLst/>
          </a:prstGeom>
          <a:solidFill>
            <a:srgbClr val="00D4FF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26304" y="3311957"/>
            <a:ext cx="118506" cy="118506"/>
          </a:xfrm>
          <a:prstGeom prst="ellipse">
            <a:avLst/>
          </a:prstGeom>
          <a:solidFill>
            <a:srgbClr val="FFD166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15986" y="3412541"/>
            <a:ext cx="105339" cy="105339"/>
          </a:xfrm>
          <a:prstGeom prst="ellipse">
            <a:avLst/>
          </a:prstGeom>
          <a:solidFill>
            <a:srgbClr val="00FF88"/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1481328"/>
            <a:ext cx="3337560" cy="3383280"/>
          </a:xfrm>
          <a:prstGeom prst="roundRect">
            <a:avLst>
              <a:gd name="adj" fmla="val 3836"/>
            </a:avLst>
          </a:prstGeom>
          <a:solidFill>
            <a:srgbClr val="071526"/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1737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Trend + forecast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4588" y="3340725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6592" y="3372729"/>
            <a:ext cx="236913" cy="-474785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41501" y="2865941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73505" y="2897945"/>
            <a:ext cx="236913" cy="284871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78413" y="3150811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0417" y="3182815"/>
            <a:ext cx="236913" cy="-759655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15326" y="2391156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47330" y="2423160"/>
            <a:ext cx="236913" cy="237392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52239" y="2628548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84243" y="2660552"/>
            <a:ext cx="236913" cy="332349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89152" y="2960898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21156" y="2992902"/>
            <a:ext cx="236913" cy="94957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26064" y="3055854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58068" y="3087858"/>
            <a:ext cx="236913" cy="-237392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62977" y="2818462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94981" y="2850466"/>
            <a:ext cx="236913" cy="427306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99890" y="3245768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31894" y="3277772"/>
            <a:ext cx="236913" cy="189914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36803" y="3435682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68807" y="3467686"/>
            <a:ext cx="236913" cy="-94957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73715" y="3340725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5719" y="3372729"/>
            <a:ext cx="236913" cy="284871"/>
          </a:xfrm>
          <a:prstGeom prst="line">
            <a:avLst/>
          </a:prstGeom>
          <a:noFill/>
          <a:ln w="31750">
            <a:solidFill>
              <a:srgbClr val="00FF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0628" y="3625596"/>
            <a:ext cx="64008" cy="64008"/>
          </a:xfrm>
          <a:prstGeom prst="ellipse">
            <a:avLst/>
          </a:prstGeom>
          <a:solidFill>
            <a:srgbClr val="00FF88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37960" y="2926080"/>
            <a:ext cx="749808" cy="164592"/>
          </a:xfrm>
          <a:prstGeom prst="line">
            <a:avLst/>
          </a:prstGeom>
          <a:noFill/>
          <a:ln w="26670">
            <a:solidFill>
              <a:srgbClr val="FFD1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37960" y="2926080"/>
            <a:ext cx="749808" cy="-91440"/>
          </a:xfrm>
          <a:prstGeom prst="line">
            <a:avLst/>
          </a:prstGeom>
          <a:noFill/>
          <a:ln w="1016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352" y="411480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F99"/>
                </a:solidFill>
              </a:rPr>
              <a:t>80% CI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8092440" y="1481328"/>
            <a:ext cx="3337560" cy="3383280"/>
          </a:xfrm>
          <a:prstGeom prst="roundRect">
            <a:avLst>
              <a:gd name="adj" fmla="val 3836"/>
            </a:avLst>
          </a:prstGeom>
          <a:solidFill>
            <a:srgbClr val="071526"/>
          </a:solidFill>
          <a:ln w="12700">
            <a:solidFill>
              <a:srgbClr val="A66CFF">
                <a:alpha val="5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21040" y="1737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66CFF"/>
                </a:solidFill>
              </a:rPr>
              <a:t>Sub-goal radar</a:t>
            </a:r>
            <a:endParaRPr lang="en-US" sz="850" dirty="0"/>
          </a:p>
        </p:txBody>
      </p:sp>
      <p:pic>
        <p:nvPicPr>
          <p:cNvPr id="7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94192" y="1993392"/>
            <a:ext cx="2697480" cy="2395728"/>
          </a:xfrm>
          <a:prstGeom prst="rect">
            <a:avLst/>
          </a:prstGeom>
        </p:spPr>
      </p:pic>
      <p:sp>
        <p:nvSpPr>
          <p:cNvPr id="71" name="Shape 68"/>
          <p:cNvSpPr/>
          <p:nvPr/>
        </p:nvSpPr>
        <p:spPr>
          <a:xfrm>
            <a:off x="713232" y="5138928"/>
            <a:ext cx="10716768" cy="576072"/>
          </a:xfrm>
          <a:prstGeom prst="roundRect">
            <a:avLst>
              <a:gd name="adj" fmla="val 22222"/>
            </a:avLst>
          </a:prstGeom>
          <a:solidFill>
            <a:srgbClr val="132845"/>
          </a:solidFill>
          <a:ln w="12700">
            <a:solidFill>
              <a:srgbClr val="00FF88">
                <a:alpha val="45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60120" y="53583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F"/>
                </a:solidFill>
              </a:rPr>
              <a:t>Key finding: global composite OHI is relatively stable around 69-72, but sub-goals and regional patterns expose hidden vulnerabilities.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Methods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 river hotspots and forecasting ocean health.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481328"/>
            <a:ext cx="5303520" cy="4315968"/>
          </a:xfrm>
          <a:prstGeom prst="roundRect">
            <a:avLst>
              <a:gd name="adj" fmla="val 2966"/>
            </a:avLst>
          </a:prstGeom>
          <a:solidFill>
            <a:srgbClr val="132845"/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73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EMISSION-WEIGHTED K-MEANS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987552" y="2148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4F8FF"/>
                </a:solidFill>
              </a:rPr>
              <a:t>Purpose: reduce 32K river points into 10 interpretable geographic hotspots.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987552" y="27797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C7D9"/>
                </a:solidFill>
              </a:rPr>
              <a:t>Weighting formula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30540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w_i = sqrt(max(e_i, 1e-6))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552" y="3749040"/>
            <a:ext cx="4480560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Square-root weighting keeps hotspots influential without letting outliers collapse clusters.</a:t>
            </a:r>
            <a:endParaRPr lang="en-US" sz="950" dirty="0"/>
          </a:p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10 selected after elbow analysis and interpretability check.</a:t>
            </a:r>
            <a:endParaRPr lang="en-US" sz="950" dirty="0"/>
          </a:p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random seed = 42 for reproducibility.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481328"/>
            <a:ext cx="5120640" cy="4315968"/>
          </a:xfrm>
          <a:prstGeom prst="roundRect">
            <a:avLst>
              <a:gd name="adj" fmla="val 2966"/>
            </a:avLst>
          </a:prstGeom>
          <a:solidFill>
            <a:srgbClr val="132845"/>
          </a:solidFill>
          <a:ln w="12700">
            <a:solidFill>
              <a:srgbClr val="00FF88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7739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F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OHI TIME-SERIES FORECASTING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6583680" y="21488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4F8FF"/>
                </a:solidFill>
              </a:rPr>
              <a:t>Four model families expose how assumptions change the predicted future.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6656832" y="2843784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8163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8FF"/>
                </a:solidFill>
              </a:rPr>
              <a:t>Linear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458200" y="28163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9C7D9"/>
                </a:solidFill>
              </a:rPr>
              <a:t>constant trend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656832" y="3355848"/>
            <a:ext cx="118872" cy="118872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3284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8FF"/>
                </a:solidFill>
              </a:rPr>
              <a:t>Polynomial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8458200" y="33284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9C7D9"/>
                </a:solidFill>
              </a:rPr>
              <a:t>quadratic trend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656832" y="3867912"/>
            <a:ext cx="118872" cy="11887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840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8FF"/>
                </a:solidFill>
              </a:rPr>
              <a:t>Holt-Winters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8458200" y="3840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9C7D9"/>
                </a:solidFill>
              </a:rPr>
              <a:t>damped additive trend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656832" y="4379976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352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8FF"/>
                </a:solidFill>
              </a:rPr>
              <a:t>ARIMA(1,1,1)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8458200" y="43525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9C7D9"/>
                </a:solidFill>
              </a:rPr>
              <a:t>differenced short-term momentum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583680" y="4983480"/>
            <a:ext cx="4315968" cy="0"/>
          </a:xfrm>
          <a:prstGeom prst="line">
            <a:avLst/>
          </a:prstGeom>
          <a:noFill/>
          <a:ln w="12700">
            <a:solidFill>
              <a:srgbClr val="2742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52578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8FF"/>
                </a:solidFill>
              </a:rPr>
              <a:t>Each run reports in-sample R² and MAE plus 80% confidence intervals.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tells a source-to-impact policy story.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00200"/>
            <a:ext cx="4983480" cy="1600200"/>
          </a:xfrm>
          <a:prstGeom prst="roundRect">
            <a:avLst>
              <a:gd name="adj" fmla="val 8000"/>
            </a:avLst>
          </a:prstGeom>
          <a:solidFill>
            <a:srgbClr val="132845"/>
          </a:solidFill>
          <a:ln w="12700">
            <a:solidFill>
              <a:srgbClr val="FF6B35">
                <a:alpha val="6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1911096"/>
            <a:ext cx="475488" cy="475488"/>
          </a:xfrm>
          <a:prstGeom prst="ellipse">
            <a:avLst/>
          </a:prstGeom>
          <a:solidFill>
            <a:srgbClr val="FF6B35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0482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64208" y="1856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4F8FF"/>
                </a:solidFill>
              </a:rPr>
              <a:t>Plastic mismanagement is concentrated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1664208" y="2350008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C7D9"/>
                </a:solidFill>
              </a:rPr>
              <a:t>South and South-East Asian countries frequently dominate the highest per-capita rankings.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4983480" cy="1600200"/>
          </a:xfrm>
          <a:prstGeom prst="roundRect">
            <a:avLst>
              <a:gd name="adj" fmla="val 8000"/>
            </a:avLst>
          </a:prstGeom>
          <a:solidFill>
            <a:srgbClr val="132845"/>
          </a:solidFill>
          <a:ln w="12700">
            <a:solidFill>
              <a:srgbClr val="00D4FF">
                <a:alpha val="6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9088" y="1911096"/>
            <a:ext cx="475488" cy="475488"/>
          </a:xfrm>
          <a:prstGeom prst="ellipse">
            <a:avLst/>
          </a:prstGeom>
          <a:solidFill>
            <a:srgbClr val="00D4FF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04825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59168" y="1856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4F8FF"/>
                </a:solidFill>
              </a:rPr>
              <a:t>River loading follows a Pareto pattern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7059168" y="2350008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C7D9"/>
                </a:solidFill>
              </a:rPr>
              <a:t>A small fraction of rivers carries most global riverine plastic emissions.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4983480" cy="1600200"/>
          </a:xfrm>
          <a:prstGeom prst="roundRect">
            <a:avLst>
              <a:gd name="adj" fmla="val 8000"/>
            </a:avLst>
          </a:prstGeom>
          <a:solidFill>
            <a:srgbClr val="132845"/>
          </a:solidFill>
          <a:ln w="12700">
            <a:solidFill>
              <a:srgbClr val="00FF88">
                <a:alpha val="6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4105656"/>
            <a:ext cx="475488" cy="475488"/>
          </a:xfrm>
          <a:prstGeom prst="ellipse">
            <a:avLst/>
          </a:prstGeom>
          <a:solidFill>
            <a:srgbClr val="00FF88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24281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64208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4F8FF"/>
                </a:solidFill>
              </a:rPr>
              <a:t>Ocean health stability can hide vulnerability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1664208" y="4544568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C7D9"/>
                </a:solidFill>
              </a:rPr>
              <a:t>Composite OHI remains narrow, while sub-goals and regions diverge sharply.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4983480" cy="1600200"/>
          </a:xfrm>
          <a:prstGeom prst="roundRect">
            <a:avLst>
              <a:gd name="adj" fmla="val 8000"/>
            </a:avLst>
          </a:prstGeom>
          <a:solidFill>
            <a:srgbClr val="132845"/>
          </a:solidFill>
          <a:ln w="12700">
            <a:solidFill>
              <a:srgbClr val="FFD166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4105656"/>
            <a:ext cx="475488" cy="475488"/>
          </a:xfrm>
          <a:prstGeom prst="ellipse">
            <a:avLst/>
          </a:prstGeom>
          <a:solidFill>
            <a:srgbClr val="FFD166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424281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59168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4F8FF"/>
                </a:solidFill>
              </a:rPr>
              <a:t>Best intervention point is upstream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7059168" y="4544568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9C7D9"/>
                </a:solidFill>
              </a:rPr>
              <a:t>Waste collection and recycling infrastructure can reduce river and ocean contamination downstream.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&amp; Future Work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limited the current system, and what comes next?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417320"/>
            <a:ext cx="5413248" cy="4526280"/>
          </a:xfrm>
          <a:prstGeom prst="roundRect">
            <a:avLst>
              <a:gd name="adj" fmla="val 2828"/>
            </a:avLst>
          </a:prstGeom>
          <a:solidFill>
            <a:srgbClr val="132845"/>
          </a:solidFill>
          <a:ln w="12700">
            <a:solidFill>
              <a:srgbClr val="FF4D6D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007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987552" y="2084832"/>
            <a:ext cx="466344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98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OHI region-country mismatch: ocean regions do not always map cleanly to ISO country boundaries.</a:t>
            </a:r>
            <a:endParaRPr lang="en-US" sz="980" dirty="0"/>
          </a:p>
          <a:p>
            <a:r>
              <a:rPr lang="en-US" sz="98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dependency chain: GDAL/Fiona/PyProj/GeoPandas increases cold-start cost.</a:t>
            </a:r>
            <a:endParaRPr lang="en-US" sz="980" dirty="0"/>
          </a:p>
          <a:p>
            <a:r>
              <a:rPr lang="en-US" sz="98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Shiny layout constraints required custom CSS for scrollable chart panels.</a:t>
            </a:r>
            <a:endParaRPr lang="en-US" sz="980" dirty="0"/>
          </a:p>
          <a:p>
            <a:r>
              <a:rPr lang="en-US" sz="98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overlap between plastic waste and OHI is too short for robust correlation.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382512" y="1417320"/>
            <a:ext cx="5074920" cy="4526280"/>
          </a:xfrm>
          <a:prstGeom prst="roundRect">
            <a:avLst>
              <a:gd name="adj" fmla="val 2828"/>
            </a:avLst>
          </a:prstGeom>
          <a:solidFill>
            <a:srgbClr val="132845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700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F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6656832" y="2084832"/>
            <a:ext cx="443484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Cross-act linked selection: click a country, highlight rivers, and navigate to related OHI regions.</a:t>
            </a:r>
            <a:endParaRPr lang="en-US" sz="950" dirty="0"/>
          </a:p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OHI choropleth using official region GeoJSON.</a:t>
            </a:r>
            <a:endParaRPr lang="en-US" sz="950" dirty="0"/>
          </a:p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correlation with bootstrap confidence intervals.</a:t>
            </a:r>
            <a:endParaRPr lang="en-US" sz="950" dirty="0"/>
          </a:p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Ocean current drift overlays to connect river outflows to ocean zones.</a:t>
            </a:r>
            <a:endParaRPr lang="en-US" sz="950" dirty="0"/>
          </a:p>
          <a:p>
            <a:r>
              <a:rPr lang="en-US" sz="95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Prophet for changepoint-aware forecasting when deployment supports it.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guided dashboard for understanding plastic pollution from source to impact.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481328"/>
            <a:ext cx="10515600" cy="1993392"/>
          </a:xfrm>
          <a:prstGeom prst="roundRect">
            <a:avLst>
              <a:gd name="adj" fmla="val 6422"/>
            </a:avLst>
          </a:prstGeom>
          <a:solidFill>
            <a:srgbClr val="132845"/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28800"/>
            <a:ext cx="9784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F"/>
                </a:solidFill>
              </a:rPr>
              <a:t>This project demonstrates that a three-act narrative, emission-weighted clustering, and multi-model forecasting can help users trace plastic pollution from land-based waste to river loading and ocean health consequences.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" y="3977640"/>
            <a:ext cx="2999232" cy="987552"/>
          </a:xfrm>
          <a:prstGeom prst="roundRect">
            <a:avLst>
              <a:gd name="adj" fmla="val 12963"/>
            </a:avLst>
          </a:prstGeom>
          <a:solidFill>
            <a:srgbClr val="071526"/>
          </a:solidFill>
          <a:ln w="12700">
            <a:solidFill>
              <a:srgbClr val="FF6B35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23367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6B35"/>
                </a:solidFill>
              </a:rPr>
              <a:t>Tell a story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188720" y="458114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9C7D9"/>
                </a:solidFill>
              </a:rPr>
              <a:t>Land → rivers → ocean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690872" y="3977640"/>
            <a:ext cx="2999232" cy="987552"/>
          </a:xfrm>
          <a:prstGeom prst="roundRect">
            <a:avLst>
              <a:gd name="adj" fmla="val 12963"/>
            </a:avLst>
          </a:prstGeom>
          <a:solidFill>
            <a:srgbClr val="071526"/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423367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D4FF"/>
                </a:solidFill>
              </a:rPr>
              <a:t>Support exploration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892040" y="458114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9C7D9"/>
                </a:solidFill>
              </a:rPr>
              <a:t>Filters, sliders, linked visual states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394192" y="3977640"/>
            <a:ext cx="2999232" cy="987552"/>
          </a:xfrm>
          <a:prstGeom prst="roundRect">
            <a:avLst>
              <a:gd name="adj" fmla="val 12963"/>
            </a:avLst>
          </a:prstGeom>
          <a:solidFill>
            <a:srgbClr val="071526"/>
          </a:solidFill>
          <a:ln w="12700">
            <a:solidFill>
              <a:srgbClr val="00FF88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423367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FF88"/>
                </a:solidFill>
              </a:rPr>
              <a:t>Make uncertainty visible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8595360" y="458114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9C7D9"/>
                </a:solidFill>
              </a:rPr>
              <a:t>Forecast horizons and confidence bands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12480" y="55595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Questions?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83480"/>
            <a:ext cx="5943600" cy="2468880"/>
          </a:xfrm>
          <a:prstGeom prst="arc">
            <a:avLst/>
          </a:prstGeom>
          <a:noFill/>
          <a:ln w="1397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166360"/>
            <a:ext cx="6583680" cy="2103120"/>
          </a:xfrm>
          <a:prstGeom prst="arc">
            <a:avLst/>
          </a:prstGeom>
          <a:noFill/>
          <a:ln w="11430">
            <a:solidFill>
              <a:srgbClr val="00FF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800600"/>
            <a:ext cx="5486400" cy="2743200"/>
          </a:xfrm>
          <a:prstGeom prst="arc">
            <a:avLst/>
          </a:prstGeom>
          <a:noFill/>
          <a:ln w="1143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206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data sources and design references used in the project report.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152144"/>
            <a:ext cx="2743200" cy="0"/>
          </a:xfrm>
          <a:prstGeom prst="line">
            <a:avLst/>
          </a:prstGeom>
          <a:noFill/>
          <a:ln w="2794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44752"/>
            <a:ext cx="10698480" cy="4480560"/>
          </a:xfrm>
          <a:prstGeom prst="roundRect">
            <a:avLst>
              <a:gd name="adj" fmla="val 2857"/>
            </a:avLst>
          </a:prstGeom>
          <a:solidFill>
            <a:srgbClr val="132845"/>
          </a:solidFill>
          <a:ln w="12700">
            <a:solidFill>
              <a:srgbClr val="2742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801368"/>
            <a:ext cx="109728" cy="109728"/>
          </a:xfrm>
          <a:prstGeom prst="ellipse">
            <a:avLst/>
          </a:prstGeom>
          <a:solidFill>
            <a:srgbClr val="FF6B35"/>
          </a:solidFill>
          <a:ln w="254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70078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</a:rPr>
              <a:t>Jambeck et al. (2015). Plastic waste inputs from land into the ocean. Science.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0" y="2295144"/>
            <a:ext cx="109728" cy="109728"/>
          </a:xfrm>
          <a:prstGeom prst="ellipse">
            <a:avLst/>
          </a:prstGeom>
          <a:solidFill>
            <a:srgbClr val="00D4FF"/>
          </a:solidFill>
          <a:ln w="254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19456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</a:rPr>
              <a:t>Meijer et al. (2021). More than 1000 rivers account for 80% of global riverine plastic emissions. Science Advances.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7280" y="2788920"/>
            <a:ext cx="109728" cy="109728"/>
          </a:xfrm>
          <a:prstGeom prst="ellipse">
            <a:avLst/>
          </a:prstGeom>
          <a:solidFill>
            <a:srgbClr val="00FF88"/>
          </a:solidFill>
          <a:ln w="254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688336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</a:rPr>
              <a:t>Halpern et al. (2012). An index to assess the health and benefits of the global ocean. Nature.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3282696"/>
            <a:ext cx="109728" cy="109728"/>
          </a:xfrm>
          <a:prstGeom prst="ellipse">
            <a:avLst/>
          </a:prstGeom>
          <a:solidFill>
            <a:srgbClr val="FF6B35"/>
          </a:solidFill>
          <a:ln w="254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182112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</a:rPr>
              <a:t>Ritchie &amp; Roser (2018). Plastic pollution. Our World in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97280" y="3776472"/>
            <a:ext cx="109728" cy="109728"/>
          </a:xfrm>
          <a:prstGeom prst="ellipse">
            <a:avLst/>
          </a:prstGeom>
          <a:solidFill>
            <a:srgbClr val="00D4FF"/>
          </a:solidFill>
          <a:ln w="254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67588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</a:rPr>
              <a:t>Segel &amp; Heer (2010). Narrative visualization: Telling stories with data. IEEE TVCG.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7280" y="4270248"/>
            <a:ext cx="109728" cy="109728"/>
          </a:xfrm>
          <a:prstGeom prst="ellipse">
            <a:avLst/>
          </a:prstGeom>
          <a:solidFill>
            <a:srgbClr val="00FF88"/>
          </a:solidFill>
          <a:ln w="254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16966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</a:rPr>
              <a:t>Munzner (2014). Visualization Analysis and Design. AK Peters/CRC Press.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7280" y="4764024"/>
            <a:ext cx="109728" cy="109728"/>
          </a:xfrm>
          <a:prstGeom prst="ellipse">
            <a:avLst/>
          </a:prstGeom>
          <a:solidFill>
            <a:srgbClr val="FF6B35"/>
          </a:solidFill>
          <a:ln w="254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46634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</a:rPr>
              <a:t>Box et al. (2015). Time Series Analysis: Forecasting and Control. Wiley.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Plastic Pollution and Ocean Health Dashboard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E7F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VinUniversity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Plastic Pollution and Ocean Health Dashboard</dc:title>
  <dc:subject>Global Plastic Pollution and Ocean Health Dashboard</dc:subject>
  <dc:creator>OpenAI</dc:creator>
  <cp:lastModifiedBy>OpenAI</cp:lastModifiedBy>
  <cp:revision>1</cp:revision>
  <dcterms:created xsi:type="dcterms:W3CDTF">2026-06-07T12:49:49Z</dcterms:created>
  <dcterms:modified xsi:type="dcterms:W3CDTF">2026-06-07T12:49:49Z</dcterms:modified>
</cp:coreProperties>
</file>